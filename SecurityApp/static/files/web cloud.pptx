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64E3-9257-63A4-478D-F6FDE48B5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7B5ED-C842-AF2E-8B1C-434A8FCF8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8F3BD-EE15-E7AB-777F-071C5076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58853-1712-AEDD-FCA9-DCCB7854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3353E-8537-2198-391F-E2589410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7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7560-238E-571A-EE01-D4FADD7ED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4CDDA-974A-1F2F-73CC-C64891463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0BD17-CCED-98CE-FA88-5034191B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21E8C-FE14-61B4-18ED-5984ACAE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5BAD9-7C5C-F702-03F8-18B1378C3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0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D2AC-9A49-8E89-32C8-BF029C42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D4A31-E391-64F9-1570-14B741492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AA270-0606-36FB-FCFE-590FF7B4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C4164-94AB-9DDF-9943-F7599F7E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D8C3D-BF61-D1B8-C42B-489CAD20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15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7C3A-E853-87FC-C067-248DB4E2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2922-187F-E7C0-7C60-C7E7AEB29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A6492-E553-4327-21A9-BF6F3E809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A7BAE-53F4-B8A8-1868-7DF7AD71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F4B6F-8E2B-C7C1-CA90-6B0BB386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74E0-B147-3D5E-7CF6-3BBCB768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64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D42A4-57D1-6A84-459E-2ADB5F21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2D094-5074-02F2-E3BC-128FF7085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D073E-E432-1210-2DD0-A41C9F9EA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4357A4-01D6-33DC-D4C2-900539A04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4C228-D296-3499-4722-1F9EF0852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0F53A3-93C7-EEAB-C64A-42C3BDB5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40A077-62AE-2623-C73F-C7BFBE87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2C50C7-D873-2E7C-10E6-14009612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24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68C8-2CB3-C5A5-0268-196F6CDA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42628-8D89-E8C3-A529-394AA575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C0580-9A56-A721-573C-DD37115E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9FD70-04B7-9D66-FC0B-5EBFD3D6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04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155E8-4A51-BEC5-F3D7-7C30C015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B5CF2-5992-7167-CC65-F093870A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BFA3B-026D-1F67-6201-3479C4C9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20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0A48-25D2-F358-3431-CE66DD24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5F0C-C0BA-37BF-3445-DE83932A0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D8DB8-CAE3-B659-A929-8CEE2F5BD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B265A-E829-42F4-3934-ED6E0EC2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11B1F-1993-0649-D703-9F7E2C02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86E56-E65E-7616-9194-3CEE19C1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98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19F7E-3FCC-3AA4-EF14-80AFD41AF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C97454-B600-443E-651B-55B4101CB8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74BD8-DED9-6EE0-DB18-1B7DB560E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497D9-F892-71BD-E364-92244D2E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7945E-54A8-EF49-6B7E-D54B9DAC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FF56F-7F8E-3673-E543-AF7ACF650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757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E8BB9-9402-1EEE-DF20-0785AC8C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14C943-42FA-710C-FACB-19DB0F87C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41BB2-59F6-25C4-61AF-74BE07E8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BF8E6-4B0D-BE92-2625-B60A11C27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EB7E1-28F0-C126-8DC0-58425143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39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4AB845-9956-4547-C1F7-D8590B697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77D05-BB76-40A3-5663-25E57F8F3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433B7-D65D-219D-7442-C9A9E5AE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3D7FA-FE5C-7FC5-57D9-F7C2022E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DF153-63A3-95CA-6DCA-BD6E1E68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96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02FFF3-05CA-AFAB-FBF8-5DA262B7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F6DD6-40DB-DA4C-D810-4D919CD45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08D07-7A0D-19C1-A1D2-4A3E83100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B3E0A-4B49-4F18-8F35-2632A0CD7215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6A7B8-7CA7-28E1-B0BD-CD01A01B3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A14DC-91B1-D90B-D2AA-FF462A921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93D8D-F97E-4CB4-91B8-08BCFA75CE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67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477647-F502-28C9-BE34-20BE3F36AD2F}"/>
                  </a:ext>
                </a:extLst>
              </p:cNvPr>
              <p:cNvSpPr txBox="1"/>
              <p:nvPr/>
            </p:nvSpPr>
            <p:spPr>
              <a:xfrm>
                <a:off x="948813" y="1208063"/>
                <a:ext cx="10294374" cy="5265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Basic Affine Encryption Formula (Single Character)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36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36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ar-AE" sz="3600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ar-AE" sz="3600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ar-AE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ar-AE" sz="3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3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3600" b="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 </m:t>
                          </m:r>
                          <m:r>
                            <m:rPr>
                              <m:sty m:val="p"/>
                            </m:rPr>
                            <a:rPr lang="en-IN" sz="3600" b="0" i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m:rPr>
                              <m:nor/>
                            </m:rPr>
                            <a:rPr lang="en-IN" sz="3600" b="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 </m:t>
                          </m:r>
                          <m:r>
                            <a:rPr lang="en-IN" sz="3600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borderBox>
                    </m:oMath>
                  </m:oMathPara>
                </a14:m>
                <a:endParaRPr lang="ar-AE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plaintext character (converted to a number)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encrypted character (number form)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multiplicative key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additive key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= size of character set (usually </a:t>
                </a:r>
                <a:r>
                  <a:rPr lang="en-IN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256 for ASCII</a:t>
                </a:r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477647-F502-28C9-BE34-20BE3F36A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13" y="1208063"/>
                <a:ext cx="10294374" cy="5265159"/>
              </a:xfrm>
              <a:prstGeom prst="rect">
                <a:avLst/>
              </a:prstGeom>
              <a:blipFill>
                <a:blip r:embed="rId2"/>
                <a:stretch>
                  <a:fillRect l="-1836" t="-1852" b="-33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582CB84-5754-96C0-DF25-913659184659}"/>
              </a:ext>
            </a:extLst>
          </p:cNvPr>
          <p:cNvSpPr txBox="1"/>
          <p:nvPr/>
        </p:nvSpPr>
        <p:spPr>
          <a:xfrm>
            <a:off x="850490" y="192400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affined43d cd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4125353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FBEFF0-0F54-307F-4A3D-6D2F275B58CB}"/>
              </a:ext>
            </a:extLst>
          </p:cNvPr>
          <p:cNvSpPr txBox="1"/>
          <p:nvPr/>
        </p:nvSpPr>
        <p:spPr>
          <a:xfrm>
            <a:off x="835741" y="836193"/>
            <a:ext cx="111989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ARC2 (RC2)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secret-key encryption algorithm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key is used to lock (encrypt) and unlock (decrypt) data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9E2D3-E241-09D5-6C32-4E370DB81298}"/>
              </a:ext>
            </a:extLst>
          </p:cNvPr>
          <p:cNvSpPr txBox="1"/>
          <p:nvPr/>
        </p:nvSpPr>
        <p:spPr>
          <a:xfrm>
            <a:off x="835742" y="3429000"/>
            <a:ext cx="111989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 box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 secret lock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ARC2 = a machine that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locks the box using the key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59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ACC23-E34B-D43D-796D-4BAD2EA37B9F}"/>
              </a:ext>
            </a:extLst>
          </p:cNvPr>
          <p:cNvSpPr txBox="1"/>
          <p:nvPr/>
        </p:nvSpPr>
        <p:spPr>
          <a:xfrm>
            <a:off x="619433" y="286092"/>
            <a:ext cx="1053034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ARC2 Works 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message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broken into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 blocks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secret key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is expanded into many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keys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the data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mixed again and again using: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shifting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mixing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mixing happens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rounds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confuse the data.</a:t>
            </a:r>
          </a:p>
          <a:p>
            <a:pP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encrypted output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mixed data is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 text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539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96C741-32B9-A3DD-F38A-B4D6AAD57988}"/>
              </a:ext>
            </a:extLst>
          </p:cNvPr>
          <p:cNvSpPr txBox="1"/>
          <p:nvPr/>
        </p:nvSpPr>
        <p:spPr>
          <a:xfrm>
            <a:off x="540772" y="294571"/>
            <a:ext cx="1174954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PKCS1_OAEP Works</a:t>
            </a:r>
          </a:p>
          <a:p>
            <a:pPr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PKCS1_OAEP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randomness to your message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RSA encrypts it, so the same message never looks the same twice.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D6CE6-2A9E-7926-96AE-21EBF13FBDC8}"/>
              </a:ext>
            </a:extLst>
          </p:cNvPr>
          <p:cNvSpPr txBox="1"/>
          <p:nvPr/>
        </p:nvSpPr>
        <p:spPr>
          <a:xfrm>
            <a:off x="457199" y="2356674"/>
            <a:ext cx="116168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You start with a message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rtl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OAEP adds randomness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OAEP creates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number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(called a seed)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random seed is different every time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now:</a:t>
            </a:r>
          </a:p>
          <a:p>
            <a:pPr rtl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+ random data</a:t>
            </a:r>
          </a:p>
        </p:txBody>
      </p:sp>
    </p:spTree>
    <p:extLst>
      <p:ext uri="{BB962C8B-B14F-4D97-AF65-F5344CB8AC3E}">
        <p14:creationId xmlns:p14="http://schemas.microsoft.com/office/powerpoint/2010/main" val="3503144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53FA54-88D6-E33E-90DA-5A1D8BF255EC}"/>
              </a:ext>
            </a:extLst>
          </p:cNvPr>
          <p:cNvSpPr txBox="1"/>
          <p:nvPr/>
        </p:nvSpPr>
        <p:spPr>
          <a:xfrm>
            <a:off x="363794" y="-460653"/>
            <a:ext cx="13391535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OAEP mixes everything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scrambles the message and the random seed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hides patterns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rtl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Random-looking padded message</a:t>
            </a:r>
          </a:p>
          <a:p>
            <a:pPr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RSA encrypts the padded message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uses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key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becomes encrypted data</a:t>
            </a:r>
          </a:p>
          <a:p>
            <a:pPr rtl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 (ciphertext)</a:t>
            </a:r>
          </a:p>
        </p:txBody>
      </p:sp>
    </p:spTree>
    <p:extLst>
      <p:ext uri="{BB962C8B-B14F-4D97-AF65-F5344CB8AC3E}">
        <p14:creationId xmlns:p14="http://schemas.microsoft.com/office/powerpoint/2010/main" val="2316503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B1E7F-1E20-63E9-7706-838DF8A358DD}"/>
              </a:ext>
            </a:extLst>
          </p:cNvPr>
          <p:cNvSpPr txBox="1"/>
          <p:nvPr/>
        </p:nvSpPr>
        <p:spPr>
          <a:xfrm>
            <a:off x="235975" y="392894"/>
            <a:ext cx="114349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What is Camellia?</a:t>
            </a:r>
          </a:p>
          <a:p>
            <a:pPr>
              <a:buNone/>
            </a:pPr>
            <a:r>
              <a:rPr lang="en-US" sz="3200" b="1" dirty="0"/>
              <a:t>Camellia</a:t>
            </a:r>
            <a:r>
              <a:rPr lang="en-US" sz="3200" dirty="0"/>
              <a:t> is a </a:t>
            </a:r>
            <a:r>
              <a:rPr lang="en-US" sz="3200" b="1" dirty="0"/>
              <a:t>symmetric-key encryption algorithm</a:t>
            </a:r>
            <a:r>
              <a:rPr lang="en-US" sz="3200" dirty="0"/>
              <a:t> (same secret key for encrypting and decrypting data). It is a </a:t>
            </a:r>
            <a:r>
              <a:rPr lang="en-US" sz="3200" b="1" dirty="0"/>
              <a:t>block cipher</a:t>
            </a:r>
            <a:r>
              <a:rPr lang="en-US" sz="3200" dirty="0"/>
              <a:t>, meaning it encrypts data in fixed-size chunks.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B9024-8627-2776-C410-24DACFB5058D}"/>
              </a:ext>
            </a:extLst>
          </p:cNvPr>
          <p:cNvSpPr txBox="1"/>
          <p:nvPr/>
        </p:nvSpPr>
        <p:spPr>
          <a:xfrm>
            <a:off x="235975" y="2454997"/>
            <a:ext cx="111202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 (easy way)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your data as a box.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Put data in the box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bytes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data at a time.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Lock it many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Camellia locks the box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times (rounds)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lock: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Mixes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positions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secret key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Final locked box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many locks, the data looks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63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3D756-9084-C813-1637-DA8E2FA50F95}"/>
              </a:ext>
            </a:extLst>
          </p:cNvPr>
          <p:cNvSpPr txBox="1"/>
          <p:nvPr/>
        </p:nvSpPr>
        <p:spPr>
          <a:xfrm>
            <a:off x="1111044" y="1093350"/>
            <a:ext cx="910467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Unlocking the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key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Unlock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order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 comes back</a:t>
            </a:r>
          </a:p>
          <a:p>
            <a:pPr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Why it is safe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mixing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math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guess without the key</a:t>
            </a:r>
          </a:p>
          <a:p>
            <a:pPr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85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AD251E-0EA4-8C56-2EF0-1F7ED90ED2BF}"/>
              </a:ext>
            </a:extLst>
          </p:cNvPr>
          <p:cNvSpPr txBox="1"/>
          <p:nvPr/>
        </p:nvSpPr>
        <p:spPr>
          <a:xfrm>
            <a:off x="2408903" y="1103408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Simple example</a:t>
            </a:r>
          </a:p>
          <a:p>
            <a:pPr rtl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→ [Camellia + key] → X9#@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!$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someone with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key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get:</a:t>
            </a:r>
          </a:p>
          <a:p>
            <a:pPr rtl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X9#@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!$ → HELLO</a:t>
            </a:r>
          </a:p>
          <a:p>
            <a:pPr>
              <a:buNone/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Where it is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and enterprise systems</a:t>
            </a:r>
          </a:p>
        </p:txBody>
      </p:sp>
    </p:spTree>
    <p:extLst>
      <p:ext uri="{BB962C8B-B14F-4D97-AF65-F5344CB8AC3E}">
        <p14:creationId xmlns:p14="http://schemas.microsoft.com/office/powerpoint/2010/main" val="176471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751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Lakshmana Sai</dc:creator>
  <cp:lastModifiedBy>Lakshmana Sai</cp:lastModifiedBy>
  <cp:revision>1</cp:revision>
  <dcterms:created xsi:type="dcterms:W3CDTF">2025-12-29T14:54:58Z</dcterms:created>
  <dcterms:modified xsi:type="dcterms:W3CDTF">2025-12-29T14:55:06Z</dcterms:modified>
</cp:coreProperties>
</file>
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2" r:id="rId2"/>
    <p:sldId id="263" r:id="rId3"/>
    <p:sldId id="259" r:id="rId4"/>
    <p:sldId id="257" r:id="rId5"/>
    <p:sldId id="274" r:id="rId6"/>
    <p:sldId id="264" r:id="rId7"/>
    <p:sldId id="265" r:id="rId8"/>
    <p:sldId id="267" r:id="rId9"/>
    <p:sldId id="268" r:id="rId10"/>
    <p:sldId id="271" r:id="rId11"/>
    <p:sldId id="270" r:id="rId12"/>
    <p:sldId id="272" r:id="rId13"/>
    <p:sldId id="273" r:id="rId14"/>
    <p:sldId id="275" r:id="rId15"/>
    <p:sldId id="276" r:id="rId16"/>
    <p:sldId id="277" r:id="rId17"/>
    <p:sldId id="278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625AB3-73D2-40A8-B0AE-71F04EAF3C3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E8AFB-ADEE-43D2-B6AD-845D27217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33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27042-6B61-B148-8485-8BBBFAA13D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407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EC6BF-2819-BAEE-30FA-B97891A67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674A2A-2BA7-AC20-230F-CEDBFC71E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7F48F-C933-8704-2649-8DC1BFE01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AADA3-93D7-489B-8577-B55F6302963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06DD-5668-5765-14E9-4DCB16405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C7276-1C80-2E4F-17D8-514E3794C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FCC1A-6581-45C3-9B8D-D1C2DD9A7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699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AB01D-5398-5A88-FF45-C14F8410A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AFBD8-F336-3B3C-BD3F-A71899E79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8D212-4F87-0B9F-3EA5-ACCB0D39D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AADA3-93D7-489B-8577-B55F6302963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0BBA6-0A0E-3D6C-6391-255B529EF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3C113-2FAD-E67B-6D41-22EABC70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FCC1A-6581-45C3-9B8D-D1C2DD9A7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968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3919-A6FB-67CB-0F37-6D2ED0254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D001C-1678-DBCF-B14B-163DCAC24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2667A-17AA-4826-CBAA-05782F16C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AADA3-93D7-489B-8577-B55F6302963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8FFF2-176E-C20A-5644-1FD6FDE3D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39CDC-C63C-BB7B-2114-A6366F022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FCC1A-6581-45C3-9B8D-D1C2DD9A7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558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8774C-B94C-8DBF-4A57-72C66D71F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776D9-4A8D-68A2-289D-45320069A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CA1F91-A8E0-FA29-3284-D3F54B7EB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DF9A0-5416-B7FE-4544-2FDC4C4B6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AADA3-93D7-489B-8577-B55F6302963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12157-D095-C769-17A7-C62321453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46FF9-C687-C14E-45BB-F89C999BC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FCC1A-6581-45C3-9B8D-D1C2DD9A7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114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B7E5C-F390-C9B7-9305-FE4891F1E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F12F1-CF2B-7C59-5462-DEFF4DCDC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F2C4C-62A2-6530-5D69-BADAC94D9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0F1CE2-9CFF-F375-4024-AFB644064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9E05B-0360-BAA8-352C-F51745EF4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D2B524-2BD5-F032-867D-DD9CA7A6D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AADA3-93D7-489B-8577-B55F6302963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1C400D-EFAF-B55F-CB56-63F4735AD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2A31E6-4CE9-BF7D-2C64-21F7563D4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FCC1A-6581-45C3-9B8D-D1C2DD9A7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6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4DCBD-65DE-596C-B62C-3595AFFA4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D6336-53A0-7F86-6F1D-EEB17CAE4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AADA3-93D7-489B-8577-B55F6302963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984E04-A42F-24CF-BF51-7DB2F7AEB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1010C-C390-9611-8973-A6CFEF519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FCC1A-6581-45C3-9B8D-D1C2DD9A7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1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24B828-7AA4-E695-5558-6393F3C74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AADA3-93D7-489B-8577-B55F6302963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5B6171-BEF5-601F-7BFD-CAB0D4698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B62A9-BC3C-532D-1A68-A4E530EA8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FCC1A-6581-45C3-9B8D-D1C2DD9A7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571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B29B8-8521-949A-19D2-96609F3D4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5A895-BD85-9D58-F3DF-85D176FF6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B66D7-6F72-8E56-CCC7-AC991C88B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848F8-DD5F-43B2-3DE5-44DBF4BB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AADA3-93D7-489B-8577-B55F6302963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EFC788-8337-7CEF-8784-2DE99A14D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9FB5D-E5B7-3F5D-2F67-55CA6886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FCC1A-6581-45C3-9B8D-D1C2DD9A7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780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EAB9-9D8F-FE57-0603-5F6EEE3DD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C3EF28-1FF7-B548-5AB3-118FB8411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4075D-71DE-0D59-F250-7842A8732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155991-42C8-D3CA-7975-14C8957EE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AADA3-93D7-489B-8577-B55F6302963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81BDB-C791-3EAC-4011-019983724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5DE31-66DF-B59D-3FE0-B07D5548C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FCC1A-6581-45C3-9B8D-D1C2DD9A7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4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01BD0-7CC2-3809-6D3E-0D5D7226E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64F5AA-B5F0-B8FA-4387-3A3664CA9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DA31C-984E-B14E-2617-83AB240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AADA3-93D7-489B-8577-B55F6302963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1A67-4AA9-E0FB-415D-6B3B4F040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43BE6-A451-55DE-E8A2-518D076E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FCC1A-6581-45C3-9B8D-D1C2DD9A7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366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557ED-A8AD-815F-FB57-AC76FB3EC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4B801B-F846-397B-6598-195922B5D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7B3C1-3E4F-D243-1B8C-46F42AB7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AADA3-93D7-489B-8577-B55F6302963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A62BE-1712-DE61-B555-79A65F67A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4256F-1DE0-EBDC-CC1A-5058AB76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FCC1A-6581-45C3-9B8D-D1C2DD9A7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99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1EBDC1-F809-2C57-B923-D5F95D390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0039D-0434-3D1E-35E7-F9C4B26C3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2EAA5-8130-2932-ACD2-4B64E7EBE4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AADA3-93D7-489B-8577-B55F6302963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57DF6-CF70-7212-8AE2-28245EABD2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37E17-7E1E-6D10-073F-463F3140B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FCC1A-6581-45C3-9B8D-D1C2DD9A72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537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ED9CA6FB-DE42-4BBF-B4CC-A8AA522E8B5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9AE46D0-2C0D-41E8-BAE2-F3638818A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0" y="260068"/>
            <a:ext cx="6800489" cy="2178332"/>
          </a:xfrm>
        </p:spPr>
        <p:txBody>
          <a:bodyPr rtlCol="0"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/>
              </a:rPr>
              <a:t>CMR Technical Campus</a:t>
            </a:r>
            <a:br>
              <a:rPr lang="en-US" sz="4000" b="1" dirty="0">
                <a:latin typeface="Times New Roman"/>
              </a:rPr>
            </a:br>
            <a:r>
              <a:rPr lang="en-US" sz="2800" b="1" dirty="0">
                <a:solidFill>
                  <a:srgbClr val="00B0F0"/>
                </a:solidFill>
                <a:latin typeface="Times New Roman"/>
              </a:rPr>
              <a:t>Department of Information Technology</a:t>
            </a:r>
            <a:endParaRPr lang="en-US" sz="4000" b="1" dirty="0">
              <a:solidFill>
                <a:srgbClr val="00B0F0"/>
              </a:solidFill>
              <a:latin typeface="Times New Roman"/>
            </a:endParaRPr>
          </a:p>
          <a:p>
            <a:endParaRPr lang="en-US" dirty="0"/>
          </a:p>
        </p:txBody>
      </p:sp>
      <p:pic>
        <p:nvPicPr>
          <p:cNvPr id="3" name="Picture 7" descr="A logo with a flower&#10;&#10;Description automatically generated">
            <a:extLst>
              <a:ext uri="{4D361329-0F30-4A96-88F2-EE23789D81C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87893E9-B8D9-47BB-B8B0-4F598E8A2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79" y="196690"/>
            <a:ext cx="1648967" cy="1429829"/>
          </a:xfrm>
          <a:prstGeom prst="rect">
            <a:avLst/>
          </a:prstGeom>
          <a:noFill/>
        </p:spPr>
      </p:pic>
      <p:sp>
        <p:nvSpPr>
          <p:cNvPr id="4" name="TextBox 8">
            <a:extLst>
              <a:ext uri="{2A500AD5-FA03-4398-9DFF-C747D18F3A2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6CBB913-720E-4E53-B62B-E5FBE86EE078}"/>
              </a:ext>
            </a:extLst>
          </p:cNvPr>
          <p:cNvSpPr txBox="1"/>
          <p:nvPr/>
        </p:nvSpPr>
        <p:spPr>
          <a:xfrm>
            <a:off x="3774832" y="1702488"/>
            <a:ext cx="5856847" cy="523220"/>
          </a:xfrm>
          <a:prstGeom prst="rect">
            <a:avLst/>
          </a:prstGeom>
          <a:noFill/>
        </p:spPr>
        <p:txBody>
          <a:bodyPr vert="horz" wrap="square" lIns="91440" tIns="45720" rIns="91440" bIns="45720" numCol="1" spcCol="0" rtlCol="0" anchor="t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Times New Roman"/>
              </a:rPr>
              <a:t>Major Project Stage-II  Review-1</a:t>
            </a:r>
          </a:p>
        </p:txBody>
      </p:sp>
      <p:sp>
        <p:nvSpPr>
          <p:cNvPr id="5" name="TextBox 9">
            <a:extLst>
              <a:ext uri="{4F53AC70-5DEA-4B5D-8934-E99555E63DE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82025FF-B4C6-4B50-918B-E847E7570A2F}"/>
              </a:ext>
            </a:extLst>
          </p:cNvPr>
          <p:cNvSpPr txBox="1"/>
          <p:nvPr/>
        </p:nvSpPr>
        <p:spPr>
          <a:xfrm>
            <a:off x="674136" y="2536236"/>
            <a:ext cx="11395815" cy="830997"/>
          </a:xfrm>
          <a:prstGeom prst="rect">
            <a:avLst/>
          </a:prstGeom>
          <a:noFill/>
        </p:spPr>
        <p:txBody>
          <a:bodyPr vert="horz" wrap="square" lIns="91440" tIns="45720" rIns="91440" bIns="45720" numCol="1" spcCol="0" rtlCol="0" anchor="t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Hybrid AES-ECC Encryption and Image Steganography Framework with MFA for Self-Protector Data Security</a:t>
            </a:r>
          </a:p>
        </p:txBody>
      </p:sp>
      <p:sp>
        <p:nvSpPr>
          <p:cNvPr id="6" name="TextBox 10">
            <a:extLst>
              <a:ext uri="{CD55773D-57A6-4083-8720-960C80B43B1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CC915C5-87DA-4BCF-A7B4-630F42D4A5E5}"/>
              </a:ext>
            </a:extLst>
          </p:cNvPr>
          <p:cNvSpPr txBox="1"/>
          <p:nvPr/>
        </p:nvSpPr>
        <p:spPr>
          <a:xfrm>
            <a:off x="396816" y="3829884"/>
            <a:ext cx="4316998" cy="1015663"/>
          </a:xfrm>
          <a:prstGeom prst="rect">
            <a:avLst/>
          </a:prstGeom>
          <a:noFill/>
        </p:spPr>
        <p:txBody>
          <a:bodyPr vert="horz" wrap="square" lIns="91440" tIns="45720" rIns="91440" bIns="45720" numCol="1" spcCol="0" rtlCol="0" anchor="t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Times New Roman"/>
              </a:rPr>
              <a:t>Project Supervisor:</a:t>
            </a:r>
            <a:r>
              <a:rPr lang="en-US" sz="2000" dirty="0">
                <a:latin typeface="Times New Roman"/>
              </a:rPr>
              <a:t>​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/>
              </a:rPr>
              <a:t>Name:</a:t>
            </a:r>
            <a:r>
              <a:rPr lang="en-US" sz="2000" dirty="0">
                <a:latin typeface="Times New Roman"/>
              </a:rPr>
              <a:t>​ M. Ramesh Babu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/>
              </a:rPr>
              <a:t>Designation:</a:t>
            </a:r>
            <a:r>
              <a:rPr lang="en-US" sz="2000" dirty="0">
                <a:solidFill>
                  <a:srgbClr val="002060"/>
                </a:solidFill>
                <a:latin typeface="Times New Roman"/>
              </a:rPr>
              <a:t> Assistant Professor</a:t>
            </a:r>
          </a:p>
        </p:txBody>
      </p:sp>
      <p:sp>
        <p:nvSpPr>
          <p:cNvPr id="7" name="TextBox 1">
            <a:extLst>
              <a:ext uri="{27677EEE-2C43-4AEE-A1AA-F0A7D37C0AE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0D04DD5-17EA-4D4F-854B-FE67B484A46C}"/>
              </a:ext>
            </a:extLst>
          </p:cNvPr>
          <p:cNvSpPr txBox="1"/>
          <p:nvPr/>
        </p:nvSpPr>
        <p:spPr>
          <a:xfrm>
            <a:off x="5486399" y="3763616"/>
            <a:ext cx="6376504" cy="2585323"/>
          </a:xfrm>
          <a:prstGeom prst="rect">
            <a:avLst/>
          </a:prstGeom>
          <a:noFill/>
        </p:spPr>
        <p:txBody>
          <a:bodyPr vert="horz" wrap="square" lIns="91440" tIns="45720" rIns="91440" bIns="45720" numCol="1" spcCol="0" rtlCol="0" anchor="t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imes New Roman"/>
              </a:rPr>
              <a:t>Presented By:</a:t>
            </a:r>
            <a:r>
              <a:rPr lang="en-US" dirty="0">
                <a:latin typeface="Times New Roman"/>
              </a:rPr>
              <a:t>​</a:t>
            </a:r>
          </a:p>
          <a:p>
            <a:r>
              <a:rPr lang="en-US" b="1" dirty="0">
                <a:latin typeface="Times New Roman"/>
              </a:rPr>
              <a:t>Batch No: 6</a:t>
            </a:r>
          </a:p>
          <a:p>
            <a:pPr marL="342900" indent="-342900">
              <a:buFont typeface=""/>
              <a:buAutoNum type="arabicPeriod"/>
            </a:pPr>
            <a:r>
              <a:rPr lang="en-US" dirty="0">
                <a:latin typeface="Times New Roman"/>
              </a:rPr>
              <a:t>H. No: 227R1A1221                          Name: Hajira Begum</a:t>
            </a:r>
          </a:p>
          <a:p>
            <a:pPr marL="342900" indent="-342900">
              <a:buFont typeface=""/>
              <a:buAutoNum type="arabicPeriod"/>
            </a:pPr>
            <a:r>
              <a:rPr lang="en-US" dirty="0">
                <a:latin typeface="Times New Roman"/>
              </a:rPr>
              <a:t>H. No: 227R1A1242                          Name: M. Sathvika</a:t>
            </a:r>
          </a:p>
          <a:p>
            <a:pPr marL="342900" indent="-342900">
              <a:buFont typeface=""/>
              <a:buAutoNum type="arabicPeriod"/>
            </a:pPr>
            <a:r>
              <a:rPr lang="en-US" dirty="0">
                <a:latin typeface="Times New Roman"/>
              </a:rPr>
              <a:t>H. No: 227R1A1207                          Name: Asrith</a:t>
            </a:r>
          </a:p>
          <a:p>
            <a:pPr marL="342900" indent="-342900">
              <a:buFont typeface=""/>
              <a:buAutoNum type="arabicPeriod"/>
            </a:pPr>
            <a:r>
              <a:rPr lang="en-US" dirty="0">
                <a:latin typeface="Times New Roman"/>
              </a:rPr>
              <a:t>H. No: 217R1A1296                          Name: Ashfaq</a:t>
            </a:r>
          </a:p>
          <a:p>
            <a:endParaRPr lang="en-US" dirty="0">
              <a:latin typeface="Times New Roman"/>
            </a:endParaRPr>
          </a:p>
          <a:p>
            <a:endParaRPr lang="en-US" dirty="0">
              <a:latin typeface="Times New Roman"/>
            </a:endParaRPr>
          </a:p>
          <a:p>
            <a:r>
              <a:rPr lang="en-US" dirty="0">
                <a:latin typeface="Times New Roman"/>
              </a:rPr>
              <a:t>​</a:t>
            </a:r>
          </a:p>
        </p:txBody>
      </p:sp>
    </p:spTree>
    <p:extLst>
      <p:ext uri="{BB5C917A-3597-451A-80EB-D4E351436A66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2562083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8A010AAA-3BC9-467C-9EDE-E1DDB94953F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3574B09-CB82-4FBE-9900-09375FF6D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1"/>
            <a:ext cx="10515600" cy="1325565"/>
          </a:xfrm>
        </p:spPr>
        <p:txBody>
          <a:bodyPr rtlCol="0"/>
          <a:lstStyle/>
          <a:p>
            <a:r>
              <a:rPr lang="en-US" b="1" dirty="0">
                <a:latin typeface="Times New Roman"/>
              </a:rPr>
              <a:t>Index</a:t>
            </a:r>
          </a:p>
        </p:txBody>
      </p:sp>
      <p:pic>
        <p:nvPicPr>
          <p:cNvPr id="3" name="Content Placeholder 3" descr="A logo with a flower&#10;&#10;Description automatically generated">
            <a:extLst>
              <a:ext uri="{48B47300-C04B-465C-B97B-4EC5B42E1C9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F0F8C0E-DA55-4C2D-867E-6EE4CDEAE5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14935" y="0"/>
            <a:ext cx="1477065" cy="1251225"/>
          </a:xfrm>
          <a:noFill/>
        </p:spPr>
      </p:pic>
      <p:sp>
        <p:nvSpPr>
          <p:cNvPr id="4" name="TextBox 4">
            <a:extLst>
              <a:ext uri="{ADF364D0-11AE-4F37-BE70-5377F01BE35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DFD9D21-7056-4C17-8E22-B57420FC5909}"/>
              </a:ext>
            </a:extLst>
          </p:cNvPr>
          <p:cNvSpPr txBox="1"/>
          <p:nvPr/>
        </p:nvSpPr>
        <p:spPr>
          <a:xfrm>
            <a:off x="762000" y="1720840"/>
            <a:ext cx="11270972" cy="4893647"/>
          </a:xfrm>
          <a:prstGeom prst="rect">
            <a:avLst/>
          </a:prstGeom>
          <a:noFill/>
        </p:spPr>
        <p:txBody>
          <a:bodyPr vert="horz" wrap="square" lIns="91440" tIns="45720" rIns="91440" bIns="45720" numCol="1" spcCol="0" rtlCol="0" anchor="t"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28600" indent="-228600">
              <a:buFont typeface="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228600" indent="-228600">
              <a:buFont typeface="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the Existing System</a:t>
            </a:r>
          </a:p>
          <a:p>
            <a:pPr marL="228600" indent="-228600">
              <a:buFont typeface="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228600" indent="-228600">
              <a:buFont typeface="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the Proposed System</a:t>
            </a:r>
          </a:p>
          <a:p>
            <a:pPr marL="228600" indent="-228600">
              <a:buFont typeface="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Requirements</a:t>
            </a:r>
          </a:p>
          <a:p>
            <a:pPr marL="228600" indent="-228600">
              <a:buFont typeface="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  <a:p>
            <a:pPr marL="228600" indent="-228600">
              <a:buFont typeface="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228600" indent="-228600">
              <a:buFont typeface="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marL="228600" indent="-228600">
              <a:buFont typeface="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0561CC85-A534-4E96-A9C6-0329ECF585B2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2562083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DA8F406-CE0C-4304-9A70-DBC39046E27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0D7FF97-8A56-4A1E-B3F2-E76BE7B71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8050"/>
            <a:ext cx="10515600" cy="1325563"/>
          </a:xfrm>
        </p:spPr>
        <p:txBody>
          <a:bodyPr rtlCol="0"/>
          <a:lstStyle/>
          <a:p>
            <a:pPr algn="ctr"/>
            <a:r>
              <a:rPr lang="en-US" b="1" dirty="0">
                <a:latin typeface="Times New Roman"/>
              </a:rPr>
              <a:t>Introduction</a:t>
            </a:r>
            <a:r>
              <a:rPr lang="en-US" sz="4400" b="1" u="sng" dirty="0">
                <a:latin typeface="Times New Roman"/>
              </a:rPr>
              <a:t>​</a:t>
            </a:r>
            <a:endParaRPr lang="en-US" sz="4400" u="sng" dirty="0">
              <a:latin typeface="Times New Roman"/>
            </a:endParaRPr>
          </a:p>
        </p:txBody>
      </p:sp>
      <p:pic>
        <p:nvPicPr>
          <p:cNvPr id="4" name="Picture 3" descr="A logo with a flower&#10;&#10;Description automatically generated">
            <a:extLst>
              <a:ext uri="{EBA04F7D-3BDB-4317-BD2A-A87EBDC2BA6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B46E140-3654-4751-8D38-573E20AE3E04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935" y="0"/>
            <a:ext cx="1477065" cy="1251225"/>
          </a:xfrm>
          <a:prstGeom prst="rect">
            <a:avLst/>
          </a:prstGeom>
          <a:noFill/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84ED98C5-6F45-FE6D-EB9B-861E9B43D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1386631"/>
            <a:ext cx="11520281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major challenge in modern communication systems due to increasing cyber threats and data breaches, demanding stronger confidentiality and integrity measures.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cryptographic methods face issues like high computational cost, scalability limits, and complex key management, especially in low-resource environments.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Encryption Standard (AES)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fast and efficient symmetric encryption, while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Elliptical Curve Cryptography (ECC)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secure key management.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hybrid AES-ECC model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the strengths of both algorithms, enhancing encryption performance and key exchange security.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strengthen protection further,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steganography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conceals encrypted data within images, making it invisible to attackers and ensuring multi-layered data security.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48869290-812B-4E49-8AE3-6AD653C35F0B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256208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0E5EF-C8FA-96D8-2887-26B791013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8678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3602C-7B91-F54C-809D-371C9BD1C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8" y="1087120"/>
            <a:ext cx="11383297" cy="540575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system uses a traditional security approach that focuses mainly on encrypting data at rest or in transit with basic access controls. This single-layer protection offers limited defense against advanced cyberattacks.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relies on an assumed-trust model where data is stored on remote servers controlled by service providers. Encryption keys are often stored on the same server, increasing the risk of insider attacks.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files are clearly identifiable, making them attractive targets for attackers. The system does not include data concealment techniques, allowing adversaries to easily locate sensitive information.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is usually based on single-factor authentication, such as usernames and passwords. This weak mechanism is vulnerable to credential theft, brute-force attacks, and lacks adaptability to evolving security threats</a:t>
            </a:r>
            <a:r>
              <a:rPr lang="en-US" sz="2400" dirty="0"/>
              <a:t>.</a:t>
            </a:r>
            <a:endParaRPr lang="en-IN" sz="2400" dirty="0"/>
          </a:p>
        </p:txBody>
      </p:sp>
      <p:pic>
        <p:nvPicPr>
          <p:cNvPr id="4" name="Picture 3" descr="A logo with a flower&#10;&#10;Description automatically generated">
            <a:extLst>
              <a:ext uri="{FF2B5EF4-FFF2-40B4-BE49-F238E27FC236}">
                <a16:creationId xmlns:a16="http://schemas.microsoft.com/office/drawing/2014/main" id="{79A87742-473E-48DE-A9BE-10F564E60986}"/>
              </a:ext>
              <a:ext uri="{93949CE7-2A42-42B0-B202-78F8FB2E065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8C88C13-8C45-4BF0-90D2-FCE813201090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935" y="0"/>
            <a:ext cx="1477065" cy="12512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686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37856-67CD-62D0-D3C6-C09B91A42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1524"/>
          </a:xfrm>
        </p:spPr>
        <p:txBody>
          <a:bodyPr/>
          <a:lstStyle/>
          <a:p>
            <a:pPr algn="ctr"/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Disadvantages of 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B8338-324E-2408-DAC9-A130E4643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360"/>
            <a:ext cx="10515600" cy="4693603"/>
          </a:xfrm>
        </p:spPr>
        <p:txBody>
          <a:bodyPr/>
          <a:lstStyle/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Susceptible to insider threats due to insufficient access control mechanisms.</a:t>
            </a:r>
          </a:p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Presence of a single point of failure affects overall system reliability.</a:t>
            </a:r>
          </a:p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Lack of effective data concealment increases the risk of data leakage.</a:t>
            </a:r>
          </a:p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Limited capability to adapt to evolving and advance security threats.</a:t>
            </a:r>
          </a:p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Absence of multi-layered security reduces overall protection strength.</a:t>
            </a:r>
          </a:p>
        </p:txBody>
      </p:sp>
      <p:pic>
        <p:nvPicPr>
          <p:cNvPr id="4" name="Picture 3" descr="A logo with a flower&#10;&#10;Description automatically generated">
            <a:extLst>
              <a:ext uri="{FF2B5EF4-FFF2-40B4-BE49-F238E27FC236}">
                <a16:creationId xmlns:a16="http://schemas.microsoft.com/office/drawing/2014/main" id="{A1B14198-98F9-3D96-EC0D-EBB6A995078E}"/>
              </a:ext>
              <a:ext uri="{93949CE7-2A42-42B0-B202-78F8FB2E065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8C88C13-8C45-4BF0-90D2-FCE813201090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178" y="55424"/>
            <a:ext cx="1477065" cy="1251225"/>
          </a:xfrm>
          <a:prstGeom prst="rect">
            <a:avLst/>
          </a:prstGeom>
          <a:noFill/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1CB03BF-AC66-6C59-DF96-19998322B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892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3F636-FC23-B1B2-FBF1-0C9D263AF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424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5D272-AE71-23B9-27FB-8339AA087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3803"/>
            <a:ext cx="10515600" cy="4853160"/>
          </a:xfrm>
        </p:spPr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multi-layered security framework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to protect data in untrusted environments. It employs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AES-ECC encryption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files are encrypted with symmetric AES key and securely wrapped using the recipient’s ECC public key, preventing any single entity from accessing both components 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further conceal sensitive information, the encrypted data is embedded within ordinary images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nearly undetectable.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is secured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Multi-Factor Authentication (MFA)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requiring both user credentials and one-time password (OTP), ensuring robust end-to-end protection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 descr="A logo with a flower&#10;&#10;Description automatically generated">
            <a:extLst>
              <a:ext uri="{FF2B5EF4-FFF2-40B4-BE49-F238E27FC236}">
                <a16:creationId xmlns:a16="http://schemas.microsoft.com/office/drawing/2014/main" id="{6D1EA402-4F6E-8558-A175-F3C5D39FA69D}"/>
              </a:ext>
              <a:ext uri="{93949CE7-2A42-42B0-B202-78F8FB2E065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8C88C13-8C45-4BF0-90D2-FCE813201090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67" y="0"/>
            <a:ext cx="1477065" cy="12512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7898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B3B15-08C1-F300-361C-AD5BBD8F9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8678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D5FE3-FC5F-91BF-2A7D-B6F2D898E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6351"/>
            <a:ext cx="10515600" cy="4656630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Confidentiality and efficiency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Insider Threat Mitigation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Superior Security Through Obscurity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Access Control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Assurance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Adaptability to Modern Threats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Awareness and Proactive Security</a:t>
            </a:r>
          </a:p>
          <a:p>
            <a:endParaRPr lang="en-IN" dirty="0"/>
          </a:p>
        </p:txBody>
      </p:sp>
      <p:pic>
        <p:nvPicPr>
          <p:cNvPr id="4" name="Picture 3" descr="A logo with a flower&#10;&#10;Description automatically generated">
            <a:extLst>
              <a:ext uri="{FF2B5EF4-FFF2-40B4-BE49-F238E27FC236}">
                <a16:creationId xmlns:a16="http://schemas.microsoft.com/office/drawing/2014/main" id="{0957544F-6C43-002D-ECEE-4B1A01D6DB6D}"/>
              </a:ext>
              <a:ext uri="{93949CE7-2A42-42B0-B202-78F8FB2E065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8C88C13-8C45-4BF0-90D2-FCE813201090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67" y="72579"/>
            <a:ext cx="1477065" cy="12512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50882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0A33B-250D-3E8F-60EF-77A00671E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91A62-E4C8-EA96-D5DB-E6F7C3125D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Hardware Requirements</a:t>
            </a:r>
          </a:p>
          <a:p>
            <a:pPr marL="0" indent="0" algn="ctr">
              <a:buNone/>
            </a:pPr>
            <a:endParaRPr lang="en-IN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i5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Memory: 512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RAM: 8 GB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C67736-AA5C-D088-8E57-FD22E1EF94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0" indent="0" algn="ctr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 3.7.6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Operating system: Windows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Frontend: Tkinter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Database: MySQL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with a flower&#10;&#10;Description automatically generated">
            <a:extLst>
              <a:ext uri="{FF2B5EF4-FFF2-40B4-BE49-F238E27FC236}">
                <a16:creationId xmlns:a16="http://schemas.microsoft.com/office/drawing/2014/main" id="{994ACEB7-813C-B141-2EE0-F9710B123A3F}"/>
              </a:ext>
              <a:ext uri="{93949CE7-2A42-42B0-B202-78F8FB2E065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8C88C13-8C45-4BF0-90D2-FCE813201090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67" y="72579"/>
            <a:ext cx="1477065" cy="12512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05998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7A3AE-433A-73ED-4851-B860F150D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49151"/>
            <a:ext cx="10515600" cy="99036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3FCDA-F44C-B65F-97E5-02888D1ED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9520"/>
            <a:ext cx="10515600" cy="4937443"/>
          </a:xfrm>
        </p:spPr>
        <p:txBody>
          <a:bodyPr>
            <a:normAutofit fontScale="92500"/>
          </a:bodyPr>
          <a:lstStyle/>
          <a:p>
            <a:pPr algn="just">
              <a:lnSpc>
                <a:spcPct val="11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This project introduces a secure data protection framework by integrating multiple security techniques instead of relying on a single encryption method.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AES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is used for fast data encryption, while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ECC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ensures secure key management, providing both efficiency and strong security.</a:t>
            </a:r>
          </a:p>
          <a:p>
            <a:pPr algn="just">
              <a:lnSpc>
                <a:spcPct val="11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The system further enhances protection by applying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image steganography 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after encryption. Encrypted data is embedded within digital images, concealing the presence of sensitive information and reducing the risk of detection or interception.</a:t>
            </a:r>
          </a:p>
          <a:p>
            <a:pPr algn="just">
              <a:lnSpc>
                <a:spcPct val="11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Security is strengthened through the use of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OTP-based Multi-Factor Authentication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. This ensures that only verified users can access encryption, decryption, and data retrieval operations.</a:t>
            </a:r>
          </a:p>
          <a:p>
            <a:pPr algn="just">
              <a:lnSpc>
                <a:spcPct val="11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Overall, the framework delivers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an end-to-end secure solution 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using Django and MySQL, making it suitable for real-world cloud and network security applications.</a:t>
            </a: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4" name="Picture 3" descr="A logo with a flower&#10;&#10;Description automatically generated">
            <a:extLst>
              <a:ext uri="{FF2B5EF4-FFF2-40B4-BE49-F238E27FC236}">
                <a16:creationId xmlns:a16="http://schemas.microsoft.com/office/drawing/2014/main" id="{8CBE9761-FA7F-53EE-6E0B-F766558BDE00}"/>
              </a:ext>
              <a:ext uri="{93949CE7-2A42-42B0-B202-78F8FB2E065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8C88C13-8C45-4BF0-90D2-FCE813201090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67" y="72579"/>
            <a:ext cx="1477065" cy="12512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90410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CFD47-1C47-6A3F-931A-BE74FF59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FDADF-B3F3-88A8-8E59-875982A0A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924"/>
            <a:ext cx="10515600" cy="5005876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framework follows a layered design to ensure secure and efficient data handling. The User Interface Layer provides a web-based platform for user authentication, file upload, and secure data retrieval.</a:t>
            </a:r>
          </a:p>
          <a:p>
            <a:pPr algn="just"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Layer, implemented using the Django framework, manages user sessions, request routing, and access control. It coordinates communication between the frontend, security modules, and storage components.</a:t>
            </a:r>
          </a:p>
          <a:p>
            <a:pPr algn="just"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security-related operations are handled by a dedicated Security Layer. This includes hybrid AES–ECC encryption, image steganography for data concealment, and OTP-based multi-factor authentication.</a:t>
            </a:r>
          </a:p>
          <a:p>
            <a:pPr algn="just"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Storage Layer is divided into a relational database for metadata storage and a secure file system for protected steganographic files. This separation ensures confidentiality, concealment, and controlled access to sensitive data.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 descr="A logo with a flower&#10;&#10;Description automatically generated">
            <a:extLst>
              <a:ext uri="{FF2B5EF4-FFF2-40B4-BE49-F238E27FC236}">
                <a16:creationId xmlns:a16="http://schemas.microsoft.com/office/drawing/2014/main" id="{A006CDF5-AEE9-F87F-F818-2F7A38B5B286}"/>
              </a:ext>
              <a:ext uri="{93949CE7-2A42-42B0-B202-78F8FB2E065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8C88C13-8C45-4BF0-90D2-FCE813201090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67" y="143699"/>
            <a:ext cx="1477065" cy="12512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93239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5A607C3E-572F-68A9-16B3-CA81578D1CC1}"/>
              </a:ext>
              <a:ext uri="{93949CE7-2A42-42B0-B202-78F8FB2E065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8C88C13-8C45-4BF0-90D2-FCE813201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73685" y="136684"/>
            <a:ext cx="1344483" cy="1194276"/>
          </a:xfrm>
          <a:prstGeom prst="rect">
            <a:avLst/>
          </a:prstGeom>
          <a:noFill/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B05FDBC1-1590-D7EF-80E8-E3F5694EF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534160"/>
            <a:ext cx="7162800" cy="50901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8A35FC9-B947-CD1C-EA09-B2B3D1C967DD}"/>
              </a:ext>
            </a:extLst>
          </p:cNvPr>
          <p:cNvSpPr/>
          <p:nvPr/>
        </p:nvSpPr>
        <p:spPr>
          <a:xfrm>
            <a:off x="3169920" y="2032000"/>
            <a:ext cx="2153920" cy="3251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System Architecture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AE755C-9A57-92DF-8973-B6F88F8B1F22}"/>
              </a:ext>
            </a:extLst>
          </p:cNvPr>
          <p:cNvSpPr txBox="1"/>
          <p:nvPr/>
        </p:nvSpPr>
        <p:spPr>
          <a:xfrm>
            <a:off x="2956560" y="349101"/>
            <a:ext cx="655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3171130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92220-DEE4-E673-C7C9-A8A9C03E0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A79F9-7E24-9E5D-ED68-A680EE9A8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4281"/>
            <a:ext cx="10515600" cy="4942682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100" b="1" dirty="0">
                <a:latin typeface="Times" panose="02020603050405020304" pitchFamily="18" charset="0"/>
                <a:cs typeface="Times" panose="02020603050405020304" pitchFamily="18" charset="0"/>
              </a:rPr>
              <a:t>1. User Registration Module 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100" dirty="0">
                <a:latin typeface="Times" panose="02020603050405020304" pitchFamily="18" charset="0"/>
                <a:cs typeface="Times" panose="02020603050405020304" pitchFamily="18" charset="0"/>
              </a:rPr>
              <a:t>	- New User signup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100" dirty="0">
                <a:latin typeface="Times" panose="02020603050405020304" pitchFamily="18" charset="0"/>
                <a:cs typeface="Times" panose="02020603050405020304" pitchFamily="18" charset="0"/>
              </a:rPr>
              <a:t>	- Stores user details securely in database</a:t>
            </a:r>
          </a:p>
          <a:p>
            <a:pPr marL="0" indent="0">
              <a:lnSpc>
                <a:spcPct val="120000"/>
              </a:lnSpc>
              <a:buNone/>
            </a:pPr>
            <a:endParaRPr lang="en-US" sz="31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3100" b="1" dirty="0">
                <a:latin typeface="Times" panose="02020603050405020304" pitchFamily="18" charset="0"/>
                <a:cs typeface="Times" panose="02020603050405020304" pitchFamily="18" charset="0"/>
              </a:rPr>
              <a:t>2. User Authentication and MFA Module 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100" dirty="0">
                <a:latin typeface="Times" panose="02020603050405020304" pitchFamily="18" charset="0"/>
                <a:cs typeface="Times" panose="02020603050405020304" pitchFamily="18" charset="0"/>
              </a:rPr>
              <a:t>	- Username and password login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100" dirty="0">
                <a:latin typeface="Times" panose="02020603050405020304" pitchFamily="18" charset="0"/>
                <a:cs typeface="Times" panose="02020603050405020304" pitchFamily="18" charset="0"/>
              </a:rPr>
              <a:t>	- OTP generation and email verification</a:t>
            </a:r>
          </a:p>
          <a:p>
            <a:pPr marL="0" indent="0">
              <a:lnSpc>
                <a:spcPct val="120000"/>
              </a:lnSpc>
              <a:buNone/>
            </a:pPr>
            <a:endParaRPr lang="en-US" sz="31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3100" b="1" dirty="0">
                <a:latin typeface="Times" panose="02020603050405020304" pitchFamily="18" charset="0"/>
                <a:cs typeface="Times" panose="02020603050405020304" pitchFamily="18" charset="0"/>
              </a:rPr>
              <a:t>3. Encryption Module:</a:t>
            </a:r>
            <a:br>
              <a:rPr lang="en-US" sz="31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3100" dirty="0">
                <a:latin typeface="Times" panose="02020603050405020304" pitchFamily="18" charset="0"/>
                <a:cs typeface="Times" panose="02020603050405020304" pitchFamily="18" charset="0"/>
              </a:rPr>
              <a:t>	- Encrypts user files or messages using AES/ECC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100" dirty="0">
                <a:latin typeface="Times" panose="02020603050405020304" pitchFamily="18" charset="0"/>
                <a:cs typeface="Times" panose="02020603050405020304" pitchFamily="18" charset="0"/>
              </a:rPr>
              <a:t>	- Provides fast and secure encryption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A9FE157E-7514-0ACC-0CA9-7DF310743D43}"/>
              </a:ext>
              <a:ext uri="{93949CE7-2A42-42B0-B202-78F8FB2E065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8C88C13-8C45-4BF0-90D2-FCE813201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73685" y="136684"/>
            <a:ext cx="1344483" cy="11942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16241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3AF98-8549-AB04-B103-18F203410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780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86825-0F50-A157-82E3-64D37935D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960"/>
            <a:ext cx="10515600" cy="484600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4. Image Steganography Module:</a:t>
            </a:r>
          </a:p>
          <a:p>
            <a:pPr marL="0" indent="0">
              <a:buNone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	- Encrypts data into images</a:t>
            </a:r>
          </a:p>
          <a:p>
            <a:pPr marL="0" indent="0">
              <a:buNone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	- Produces visually unchanged stego – images</a:t>
            </a:r>
          </a:p>
          <a:p>
            <a:pPr marL="0" indent="0">
              <a:buNone/>
            </a:pP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5. File upload and Download Module :</a:t>
            </a:r>
          </a:p>
          <a:p>
            <a:pPr marL="0" indent="0">
              <a:buNone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	- Handles secure upload of file</a:t>
            </a:r>
          </a:p>
          <a:p>
            <a:pPr marL="0" indent="0">
              <a:buNone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	- Allows authorized retrieval only</a:t>
            </a:r>
          </a:p>
          <a:p>
            <a:pPr marL="0" indent="0">
              <a:buNone/>
            </a:pP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5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FD28D41A-FBB2-57BC-A4AB-DF072E19812B}"/>
              </a:ext>
              <a:ext uri="{93949CE7-2A42-42B0-B202-78F8FB2E065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8C88C13-8C45-4BF0-90D2-FCE813201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73685" y="136684"/>
            <a:ext cx="1344483" cy="11942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62580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5703-974F-C2C0-88C8-2A94E677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3435"/>
          </a:xfrm>
        </p:spPr>
        <p:txBody>
          <a:bodyPr/>
          <a:lstStyle/>
          <a:p>
            <a:pPr algn="ctr"/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UML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D41CC-2AF9-5EBA-137F-FB6694543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961"/>
            <a:ext cx="10515600" cy="4572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Use Case Diagram</a:t>
            </a:r>
          </a:p>
          <a:p>
            <a:pPr marL="0" indent="0">
              <a:buNone/>
            </a:pPr>
            <a:endParaRPr lang="en-US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6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E5909196-98AB-04AF-D115-427E71406A55}"/>
              </a:ext>
              <a:ext uri="{93949CE7-2A42-42B0-B202-78F8FB2E065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8C88C13-8C45-4BF0-90D2-FCE813201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73685" y="136684"/>
            <a:ext cx="1344483" cy="1194276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129AF9-10F2-C456-A7BC-E0A773F07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798321"/>
            <a:ext cx="8518031" cy="486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536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3A89A-0903-F202-1F67-50BA39AEB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60" y="223521"/>
            <a:ext cx="11038840" cy="92455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" panose="02020603050405020304" pitchFamily="18" charset="0"/>
                <a:cs typeface="Times" panose="02020603050405020304" pitchFamily="18" charset="0"/>
              </a:rPr>
              <a:t>Class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84831D-EA7F-9BAC-D3C9-ECDFF18CE9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7659" y="1148080"/>
            <a:ext cx="7773441" cy="5184825"/>
          </a:xfrm>
          <a:prstGeom prst="rect">
            <a:avLst/>
          </a:prstGeom>
        </p:spPr>
      </p:pic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0E3B10A0-36B0-64EF-2FDD-D5B8FF4681AE}"/>
              </a:ext>
              <a:ext uri="{93949CE7-2A42-42B0-B202-78F8FB2E065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8C88C13-8C45-4BF0-90D2-FCE813201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673685" y="136684"/>
            <a:ext cx="1344483" cy="11942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83654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05893-8082-47DF-E7D8-C1D251D8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440" y="274321"/>
            <a:ext cx="11008360" cy="64008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" panose="02020603050405020304" pitchFamily="18" charset="0"/>
                <a:cs typeface="Times" panose="02020603050405020304" pitchFamily="18" charset="0"/>
              </a:rPr>
              <a:t>Sequence Diagram</a:t>
            </a:r>
          </a:p>
        </p:txBody>
      </p:sp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E5B52E09-9A40-4E2E-8CF8-71E1C3A7B8DA}"/>
              </a:ext>
              <a:ext uri="{93949CE7-2A42-42B0-B202-78F8FB2E065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8C88C13-8C45-4BF0-90D2-FCE813201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73685" y="136684"/>
            <a:ext cx="1344483" cy="1194276"/>
          </a:xfrm>
          <a:prstGeom prst="rect">
            <a:avLst/>
          </a:prstGeom>
          <a:noFill/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4BD7F1-1C35-F0D2-F7CB-4199F4B27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813" y="1194668"/>
            <a:ext cx="8709872" cy="538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915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C978F-E3E5-C20B-63E6-DBA7CFE56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314961"/>
            <a:ext cx="11059160" cy="6197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 Activity Diagram</a:t>
            </a:r>
          </a:p>
        </p:txBody>
      </p:sp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B7891FD1-F2A8-61D9-0D43-BDC0706B64A1}"/>
              </a:ext>
              <a:ext uri="{93949CE7-2A42-42B0-B202-78F8FB2E065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8C88C13-8C45-4BF0-90D2-FCE813201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73685" y="136684"/>
            <a:ext cx="1344483" cy="1194276"/>
          </a:xfrm>
          <a:prstGeom prst="rect">
            <a:avLst/>
          </a:prstGeom>
          <a:noFill/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A761309-1E1D-D9C9-201F-CAF5687842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34080" y="1046480"/>
            <a:ext cx="5344160" cy="526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72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9538703-6E7B-46BF-BE9B-7D36F22E8BB2}"/>
              </a:ext>
            </a:extLst>
          </p:cNvPr>
          <p:cNvSpPr/>
          <p:nvPr/>
        </p:nvSpPr>
        <p:spPr>
          <a:xfrm>
            <a:off x="3748701" y="2505670"/>
            <a:ext cx="44101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THANK YOU</a:t>
            </a:r>
            <a:endParaRPr lang="en-US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41431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994</Words>
  <Application>Microsoft Office PowerPoint</Application>
  <PresentationFormat>Widescreen</PresentationFormat>
  <Paragraphs>117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</vt:lpstr>
      <vt:lpstr>Times New Roman</vt:lpstr>
      <vt:lpstr>Office Theme</vt:lpstr>
      <vt:lpstr>CMR Technical Campus Department of Information Technology </vt:lpstr>
      <vt:lpstr>Index</vt:lpstr>
      <vt:lpstr>Introduction​</vt:lpstr>
      <vt:lpstr>Existing System</vt:lpstr>
      <vt:lpstr>Disadvantages of Existing System</vt:lpstr>
      <vt:lpstr>Proposed System</vt:lpstr>
      <vt:lpstr>Advantages of Proposed System</vt:lpstr>
      <vt:lpstr>System Requirements</vt:lpstr>
      <vt:lpstr>Novelty</vt:lpstr>
      <vt:lpstr>System Architecture</vt:lpstr>
      <vt:lpstr>PowerPoint Presentation</vt:lpstr>
      <vt:lpstr> Modules </vt:lpstr>
      <vt:lpstr> Modules </vt:lpstr>
      <vt:lpstr>UML Diagrams</vt:lpstr>
      <vt:lpstr>Class Diagram</vt:lpstr>
      <vt:lpstr>Sequence Diagram</vt:lpstr>
      <vt:lpstr> Activity Diagram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Muzammil</dc:creator>
  <cp:lastModifiedBy>Hajira Begum</cp:lastModifiedBy>
  <cp:revision>8</cp:revision>
  <dcterms:created xsi:type="dcterms:W3CDTF">2026-01-28T09:20:03Z</dcterms:created>
  <dcterms:modified xsi:type="dcterms:W3CDTF">2026-02-03T04:55:16Z</dcterms:modified>
</cp:coreProperties>
</file>